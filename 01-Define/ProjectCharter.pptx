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5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00599B"/>
    <a:srgbClr val="003366"/>
    <a:srgbClr val="F2F6FC"/>
    <a:srgbClr val="FC2184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5850"/>
  </p:normalViewPr>
  <p:slideViewPr>
    <p:cSldViewPr snapToGrid="0" snapToObjects="1">
      <p:cViewPr varScale="1">
        <p:scale>
          <a:sx n="126" d="100"/>
          <a:sy n="126" d="100"/>
        </p:scale>
        <p:origin x="163" y="86"/>
      </p:cViewPr>
      <p:guideLst/>
    </p:cSldViewPr>
  </p:slideViewPr>
  <p:outlineViewPr>
    <p:cViewPr>
      <p:scale>
        <a:sx n="33" d="100"/>
        <a:sy n="33" d="100"/>
      </p:scale>
      <p:origin x="0" y="-18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E45734-4E83-5960-E464-D5F40E9FCCF5}"/>
              </a:ext>
            </a:extLst>
          </p:cNvPr>
          <p:cNvSpPr/>
          <p:nvPr/>
        </p:nvSpPr>
        <p:spPr>
          <a:xfrm>
            <a:off x="84777" y="3258315"/>
            <a:ext cx="4389120" cy="914400"/>
          </a:xfrm>
          <a:prstGeom prst="rect">
            <a:avLst/>
          </a:prstGeom>
          <a:solidFill>
            <a:srgbClr val="F2F6F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         MEASURE          ANALYZE          IMPROVE          CONTROL</a:t>
            </a:r>
          </a:p>
          <a:p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 18-24  →  Jun 25-Jul 8  →  Jul 9-22  →  Jul 23-Aug 5  →  Aug 6-12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97DB9-AF22-366B-5A34-862615EB12F0}"/>
              </a:ext>
            </a:extLst>
          </p:cNvPr>
          <p:cNvSpPr/>
          <p:nvPr/>
        </p:nvSpPr>
        <p:spPr>
          <a:xfrm>
            <a:off x="4670103" y="2047717"/>
            <a:ext cx="4389120" cy="914400"/>
          </a:xfrm>
          <a:prstGeom prst="rect">
            <a:avLst/>
          </a:prstGeom>
          <a:solidFill>
            <a:srgbClr val="F2F6F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Metric: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On-Time Arrival Rate (%) — flight on-time if arrives 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15 minutes of scheduled arrival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49544-D13F-D85C-EA98-997F24140F0F}"/>
              </a:ext>
            </a:extLst>
          </p:cNvPr>
          <p:cNvSpPr/>
          <p:nvPr/>
        </p:nvSpPr>
        <p:spPr>
          <a:xfrm>
            <a:off x="4670101" y="3257488"/>
            <a:ext cx="4389120" cy="914400"/>
          </a:xfrm>
          <a:prstGeom prst="rect">
            <a:avLst/>
          </a:prstGeom>
          <a:solidFill>
            <a:srgbClr val="F2F6FC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Framework:   DMAIC (Lean Six Sigma Green Belt)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    SQL — SQLite / DB Browser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Visualize:   Tableau Public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Dashboard:   Microsoft Power BI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A93A3-4768-B747-BDD9-8F85165BDDCB}"/>
              </a:ext>
            </a:extLst>
          </p:cNvPr>
          <p:cNvSpPr txBox="1"/>
          <p:nvPr/>
        </p:nvSpPr>
        <p:spPr>
          <a:xfrm>
            <a:off x="0" y="62069"/>
            <a:ext cx="89744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DMAIC PROJECT CHARTER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Flight Delay Root Cause Analysis | US Domestic Flights 2023</a:t>
            </a:r>
            <a:endParaRPr lang="en-US" sz="13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81D037-AF97-E85B-0AD9-0768EEA9410F}"/>
              </a:ext>
            </a:extLst>
          </p:cNvPr>
          <p:cNvGrpSpPr/>
          <p:nvPr/>
        </p:nvGrpSpPr>
        <p:grpSpPr>
          <a:xfrm>
            <a:off x="84779" y="834850"/>
            <a:ext cx="4389120" cy="914400"/>
            <a:chOff x="84779" y="834850"/>
            <a:chExt cx="4389120" cy="9144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E9B5B7-3B49-51A2-D109-1F19E9CABC25}"/>
                </a:ext>
              </a:extLst>
            </p:cNvPr>
            <p:cNvSpPr/>
            <p:nvPr/>
          </p:nvSpPr>
          <p:spPr>
            <a:xfrm>
              <a:off x="84779" y="834850"/>
              <a:ext cx="4389120" cy="914400"/>
            </a:xfrm>
            <a:prstGeom prst="rect">
              <a:avLst/>
            </a:prstGeom>
            <a:solidFill>
              <a:srgbClr val="F2F6FC"/>
            </a:solidFill>
            <a:ln w="12700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 domestic flights in 2023 achieved only ~78% on-time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arrival rate — meaning 1 in 5 flights arrived delayed.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Root causes are not systematically identified, measured,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or monitored across the industry.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8090E35-647A-1534-E016-970C3EB43C33}"/>
                </a:ext>
              </a:extLst>
            </p:cNvPr>
            <p:cNvSpPr/>
            <p:nvPr/>
          </p:nvSpPr>
          <p:spPr>
            <a:xfrm>
              <a:off x="84779" y="834850"/>
              <a:ext cx="4389120" cy="228600"/>
            </a:xfrm>
            <a:prstGeom prst="rect">
              <a:avLst/>
            </a:prstGeom>
            <a:solidFill>
              <a:srgbClr val="0059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Problem Statement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5FFA4C8-7C15-B558-9142-D2D631B80A30}"/>
              </a:ext>
            </a:extLst>
          </p:cNvPr>
          <p:cNvSpPr/>
          <p:nvPr/>
        </p:nvSpPr>
        <p:spPr>
          <a:xfrm>
            <a:off x="84777" y="3257488"/>
            <a:ext cx="4389120" cy="228600"/>
          </a:xfrm>
          <a:prstGeom prst="rect">
            <a:avLst/>
          </a:prstGeom>
          <a:solidFill>
            <a:srgbClr val="00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DMAIC Timeline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A49E62-AEBE-7D1A-F985-48F4902C837F}"/>
              </a:ext>
            </a:extLst>
          </p:cNvPr>
          <p:cNvGrpSpPr/>
          <p:nvPr/>
        </p:nvGrpSpPr>
        <p:grpSpPr>
          <a:xfrm>
            <a:off x="4670101" y="834118"/>
            <a:ext cx="4389122" cy="915132"/>
            <a:chOff x="4670101" y="834118"/>
            <a:chExt cx="4389122" cy="9151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3836AC-6D18-82FB-6AB8-F7AF0F165386}"/>
                </a:ext>
              </a:extLst>
            </p:cNvPr>
            <p:cNvSpPr/>
            <p:nvPr/>
          </p:nvSpPr>
          <p:spPr>
            <a:xfrm>
              <a:off x="4670103" y="834850"/>
              <a:ext cx="4389120" cy="914400"/>
            </a:xfrm>
            <a:prstGeom prst="rect">
              <a:avLst/>
            </a:prstGeom>
            <a:solidFill>
              <a:srgbClr val="F2F6FC"/>
            </a:solidFill>
            <a:ln w="12700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Identify the top 2-3 root causes of US domestic flight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delays using 2023 BTS data, quantify their sigma-level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impact, and design a KPI monitoring dashboard to enable </a:t>
              </a:r>
            </a:p>
            <a:p>
              <a:r>
                <a:rPr lang="en-US" sz="900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data-driven operational decisions.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92CD22-04BB-7EA6-E846-27838A43DF66}"/>
                </a:ext>
              </a:extLst>
            </p:cNvPr>
            <p:cNvSpPr/>
            <p:nvPr/>
          </p:nvSpPr>
          <p:spPr>
            <a:xfrm>
              <a:off x="4670101" y="834118"/>
              <a:ext cx="4389120" cy="228600"/>
            </a:xfrm>
            <a:prstGeom prst="rect">
              <a:avLst/>
            </a:prstGeom>
            <a:solidFill>
              <a:srgbClr val="0059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Goal Statement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34EC44-0EB8-72FF-16DC-73554DE4738F}"/>
              </a:ext>
            </a:extLst>
          </p:cNvPr>
          <p:cNvGrpSpPr/>
          <p:nvPr/>
        </p:nvGrpSpPr>
        <p:grpSpPr>
          <a:xfrm>
            <a:off x="84777" y="2038712"/>
            <a:ext cx="4389120" cy="914400"/>
            <a:chOff x="84777" y="2046582"/>
            <a:chExt cx="4389120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239690-82B7-A7A6-89C1-8DDF57B522D4}"/>
                </a:ext>
              </a:extLst>
            </p:cNvPr>
            <p:cNvSpPr/>
            <p:nvPr/>
          </p:nvSpPr>
          <p:spPr>
            <a:xfrm>
              <a:off x="84777" y="2046582"/>
              <a:ext cx="4389120" cy="914400"/>
            </a:xfrm>
            <a:prstGeom prst="rect">
              <a:avLst/>
            </a:prstGeom>
            <a:solidFill>
              <a:srgbClr val="F2F6FC"/>
            </a:solidFill>
            <a:ln w="12700">
              <a:solidFill>
                <a:srgbClr val="003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EAA678-4CB8-7514-47CE-DACED586A5DD}"/>
                </a:ext>
              </a:extLst>
            </p:cNvPr>
            <p:cNvSpPr/>
            <p:nvPr/>
          </p:nvSpPr>
          <p:spPr>
            <a:xfrm>
              <a:off x="84777" y="2054050"/>
              <a:ext cx="4389120" cy="228600"/>
            </a:xfrm>
            <a:prstGeom prst="rect">
              <a:avLst/>
            </a:prstGeom>
            <a:solidFill>
              <a:srgbClr val="00599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Scope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1AB68C5-8F73-1520-B4F7-0DC85D2D9764}"/>
              </a:ext>
            </a:extLst>
          </p:cNvPr>
          <p:cNvSpPr/>
          <p:nvPr/>
        </p:nvSpPr>
        <p:spPr>
          <a:xfrm>
            <a:off x="4670103" y="2047717"/>
            <a:ext cx="4389120" cy="228600"/>
          </a:xfrm>
          <a:prstGeom prst="rect">
            <a:avLst/>
          </a:prstGeom>
          <a:solidFill>
            <a:srgbClr val="00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CTQ Metrics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F214E-35F0-D26E-AFEA-2FDF88133207}"/>
              </a:ext>
            </a:extLst>
          </p:cNvPr>
          <p:cNvSpPr/>
          <p:nvPr/>
        </p:nvSpPr>
        <p:spPr>
          <a:xfrm>
            <a:off x="4670103" y="3257488"/>
            <a:ext cx="4389120" cy="228600"/>
          </a:xfrm>
          <a:prstGeom prst="rect">
            <a:avLst/>
          </a:prstGeom>
          <a:solidFill>
            <a:srgbClr val="005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Methodology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25BA56-F2F6-6B9D-5753-A7F6DC92C4A5}"/>
              </a:ext>
            </a:extLst>
          </p:cNvPr>
          <p:cNvSpPr txBox="1"/>
          <p:nvPr/>
        </p:nvSpPr>
        <p:spPr>
          <a:xfrm>
            <a:off x="52685" y="2233195"/>
            <a:ext cx="26057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SCOPE: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All US domestic flights, full year 2023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All reporting carriers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All delay cause categories (carrier, weather, NAS, 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security, late aircraft)</a:t>
            </a:r>
          </a:p>
          <a:p>
            <a:endParaRPr lang="en-US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64BF77-B157-F873-69DC-62FAA86E530D}"/>
              </a:ext>
            </a:extLst>
          </p:cNvPr>
          <p:cNvSpPr txBox="1"/>
          <p:nvPr/>
        </p:nvSpPr>
        <p:spPr>
          <a:xfrm>
            <a:off x="2531251" y="2233195"/>
            <a:ext cx="1942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OF SCOPE: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International flights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Airport ground crew operations</a:t>
            </a:r>
          </a:p>
          <a:p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0CB6EA-E259-1658-D5EC-D3F6B715949C}"/>
              </a:ext>
            </a:extLst>
          </p:cNvPr>
          <p:cNvSpPr txBox="1"/>
          <p:nvPr/>
        </p:nvSpPr>
        <p:spPr>
          <a:xfrm>
            <a:off x="7030585" y="3477673"/>
            <a:ext cx="2028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Statistics:  Excel (t-test, Regression, Cp/</a:t>
            </a:r>
            <a:r>
              <a:rPr lang="en-US" sz="9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Cpk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Source: BTS On-Time Performance 2023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AB6446-F6E2-753D-EE44-7873869A1EB9}"/>
              </a:ext>
            </a:extLst>
          </p:cNvPr>
          <p:cNvSpPr txBox="1"/>
          <p:nvPr/>
        </p:nvSpPr>
        <p:spPr>
          <a:xfrm>
            <a:off x="5456120" y="4172715"/>
            <a:ext cx="36031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Owner: Sabab Abrar Hamim</a:t>
            </a:r>
          </a:p>
          <a:p>
            <a:pPr algn="r"/>
            <a:r>
              <a:rPr lang="en-US" sz="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Cert: Lean Six Sigma Green Belt (June 2026)</a:t>
            </a:r>
          </a:p>
          <a:p>
            <a:pPr algn="r"/>
            <a:r>
              <a:rPr lang="en-US" sz="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University: UT Arlington — Industrial, Manufacturing, and Systems Eng.</a:t>
            </a:r>
          </a:p>
          <a:p>
            <a:pPr algn="r"/>
            <a:r>
              <a:rPr lang="en-US" sz="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Minors: Information Systems | Sustainable Eng.</a:t>
            </a:r>
          </a:p>
          <a:p>
            <a:pPr algn="r"/>
            <a:r>
              <a:rPr lang="en-US" sz="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Timeline: June – August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B2CE77-E2D0-6141-1389-A0D890B177BD}"/>
              </a:ext>
            </a:extLst>
          </p:cNvPr>
          <p:cNvSpPr txBox="1"/>
          <p:nvPr/>
        </p:nvSpPr>
        <p:spPr>
          <a:xfrm>
            <a:off x="7181976" y="2233195"/>
            <a:ext cx="1877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Secondary Metric: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Arrival Delay (minutes)</a:t>
            </a:r>
          </a:p>
          <a:p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DPMO &amp; Sigma Level</a:t>
            </a:r>
          </a:p>
          <a:p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528844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ial-UTA-PPT" id="{90A28683-42B9-1F49-B70D-9E164CA480DB}" vid="{02935933-E178-034F-8100-04BD38C102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31EFAEB4635F44B02D12818C7C5E8E" ma:contentTypeVersion="4" ma:contentTypeDescription="Create a new document." ma:contentTypeScope="" ma:versionID="d6dfe4b066fb1f7d3d4bf0ccb6396f46">
  <xsd:schema xmlns:xsd="http://www.w3.org/2001/XMLSchema" xmlns:xs="http://www.w3.org/2001/XMLSchema" xmlns:p="http://schemas.microsoft.com/office/2006/metadata/properties" xmlns:ns2="c1bca3df-4730-4367-a65e-d9c50c831633" targetNamespace="http://schemas.microsoft.com/office/2006/metadata/properties" ma:root="true" ma:fieldsID="0add33a5a10020edb13f99f734b74c92" ns2:_="">
    <xsd:import namespace="c1bca3df-4730-4367-a65e-d9c50c8316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bca3df-4730-4367-a65e-d9c50c8316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9D5967-549D-47ED-88FE-F8875857F0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bca3df-4730-4367-a65e-d9c50c831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purl.org/dc/terms/"/>
    <ds:schemaRef ds:uri="6de4f653-305e-4b24-a946-1880da0172d5"/>
    <ds:schemaRef ds:uri="f323b9af-b71f-410f-8cd2-c1c1bbd27912"/>
    <ds:schemaRef ds:uri="150c7762-1262-4ab1-bf5c-be0c2e5b9698"/>
    <ds:schemaRef ds:uri="202a3b04-398d-4244-a1b4-8d121644297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Official-UTA-PPT</Template>
  <TotalTime>145</TotalTime>
  <Words>283</Words>
  <Application>Microsoft Office PowerPoint</Application>
  <PresentationFormat>On-screen Show (16:9)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Wingdings</vt:lpstr>
      <vt:lpstr>UTA Accessible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Hamim, Sabab Abrar</dc:creator>
  <cp:lastModifiedBy>Hamim, Sabab Abrar</cp:lastModifiedBy>
  <cp:revision>4</cp:revision>
  <dcterms:created xsi:type="dcterms:W3CDTF">2026-06-25T14:04:27Z</dcterms:created>
  <dcterms:modified xsi:type="dcterms:W3CDTF">2026-06-25T16:29:36Z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0x0101000031EFAEB4635F44B02D12818C7C5E8E</vt:lpwstr>
  </property>
  <property fmtid="{D5CDD505-2E9C-101B-9397-08002B2CF9AE}" pid="3" name="MediaServiceImageTags">
    <vt:lpwstr/>
  </property>
</Properties>
</file>