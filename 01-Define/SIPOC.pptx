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AFBC6-2900-4C41-ABBE-914744FB32C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CBA84-AF0D-48FD-9E7F-6496D4DFD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6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9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3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843125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56914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2339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0456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40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4582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3526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5198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12658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2485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79782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7698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2FAB6446-F6E2-753D-EE44-7873869A1EB9}"/>
              </a:ext>
            </a:extLst>
          </p:cNvPr>
          <p:cNvSpPr txBox="1"/>
          <p:nvPr/>
        </p:nvSpPr>
        <p:spPr>
          <a:xfrm>
            <a:off x="7274827" y="5563621"/>
            <a:ext cx="4804135" cy="1036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09585"/>
            <a:r>
              <a:rPr lang="en-US" sz="18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Owner: Sabab Abrar Hamim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Cert: Lean Six Sigma Green Belt (June 2026)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University: UT Arlington — Industrial, Manufacturing, and Systems Eng.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Minors: Information Systems | Sustainable Eng.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Timeline: June – August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C3378-9AE8-42A2-8C96-059991F1EDA1}"/>
              </a:ext>
            </a:extLst>
          </p:cNvPr>
          <p:cNvSpPr txBox="1"/>
          <p:nvPr/>
        </p:nvSpPr>
        <p:spPr>
          <a:xfrm>
            <a:off x="0" y="-12409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SIPOC DIAGRAM</a:t>
            </a:r>
          </a:p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Delay Root Cause Analysis | US Domestic Flights 2023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CEA24C-D5EF-BC76-4619-178A43739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91796"/>
              </p:ext>
            </p:extLst>
          </p:nvPr>
        </p:nvGraphicFramePr>
        <p:xfrm>
          <a:off x="110067" y="1312333"/>
          <a:ext cx="1196615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230">
                  <a:extLst>
                    <a:ext uri="{9D8B030D-6E8A-4147-A177-3AD203B41FA5}">
                      <a16:colId xmlns:a16="http://schemas.microsoft.com/office/drawing/2014/main" val="3435886783"/>
                    </a:ext>
                  </a:extLst>
                </a:gridCol>
                <a:gridCol w="2393230">
                  <a:extLst>
                    <a:ext uri="{9D8B030D-6E8A-4147-A177-3AD203B41FA5}">
                      <a16:colId xmlns:a16="http://schemas.microsoft.com/office/drawing/2014/main" val="3030977884"/>
                    </a:ext>
                  </a:extLst>
                </a:gridCol>
                <a:gridCol w="2393230">
                  <a:extLst>
                    <a:ext uri="{9D8B030D-6E8A-4147-A177-3AD203B41FA5}">
                      <a16:colId xmlns:a16="http://schemas.microsoft.com/office/drawing/2014/main" val="4029739183"/>
                    </a:ext>
                  </a:extLst>
                </a:gridCol>
                <a:gridCol w="2393230">
                  <a:extLst>
                    <a:ext uri="{9D8B030D-6E8A-4147-A177-3AD203B41FA5}">
                      <a16:colId xmlns:a16="http://schemas.microsoft.com/office/drawing/2014/main" val="3779427800"/>
                    </a:ext>
                  </a:extLst>
                </a:gridCol>
                <a:gridCol w="2393230">
                  <a:extLst>
                    <a:ext uri="{9D8B030D-6E8A-4147-A177-3AD203B41FA5}">
                      <a16:colId xmlns:a16="http://schemas.microsoft.com/office/drawing/2014/main" val="3762238873"/>
                    </a:ext>
                  </a:extLst>
                </a:gridCol>
              </a:tblGrid>
              <a:tr h="7135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SUPPLIERS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PROCESS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55368"/>
                  </a:ext>
                </a:extLst>
              </a:tr>
              <a:tr h="2690095"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</a:rPr>
                        <a:t>FAA, Airports, Weather Services, Aircraft Manufacturers, Ground Crews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Flight schedules, Weather data, Aircraft availability, Crew availability, Air traffic control data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Flight scheduling → Boarding → Pushback → Taxi → Takeoff → Cruise → Landing → Taxi-in → Gate arrival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On-time/delayed flight, Arrival time, Delay cause classification, Passenger satisfaction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Passengers, Airlines, Airports, DOT/Regulators, Connecting flight passengers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51603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BBF1D43-11D1-B991-013C-7C47C257A627}"/>
              </a:ext>
            </a:extLst>
          </p:cNvPr>
          <p:cNvSpPr/>
          <p:nvPr/>
        </p:nvSpPr>
        <p:spPr>
          <a:xfrm>
            <a:off x="107322" y="4818554"/>
            <a:ext cx="11966150" cy="74608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Scheduled Departure → Boarding/Pushback → Taxi/Takeoff → Flight/Landing → Gate Arrival</a:t>
            </a:r>
          </a:p>
        </p:txBody>
      </p:sp>
    </p:spTree>
    <p:extLst>
      <p:ext uri="{BB962C8B-B14F-4D97-AF65-F5344CB8AC3E}">
        <p14:creationId xmlns:p14="http://schemas.microsoft.com/office/powerpoint/2010/main" val="1958528844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ial-UTA-PPT" id="{90A28683-42B9-1F49-B70D-9E164CA480DB}" vid="{02935933-E178-034F-8100-04BD38C102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152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Helvetica</vt:lpstr>
      <vt:lpstr>Wingdings</vt:lpstr>
      <vt:lpstr>UTA Accessible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Hamim, Sabab Abrar</dc:creator>
  <cp:lastModifiedBy>Hamim, Sabab Abrar</cp:lastModifiedBy>
  <cp:revision>3</cp:revision>
  <dcterms:created xsi:type="dcterms:W3CDTF">2026-06-29T15:40:23Z</dcterms:created>
  <dcterms:modified xsi:type="dcterms:W3CDTF">2026-06-29T16:17:02Z</dcterms:modified>
</cp:coreProperties>
</file>